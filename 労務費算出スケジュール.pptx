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スケジュール" id="{a83fa4c4-246e-ceb2-a29a-61db4e083a4c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686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労務費算出プロジェクト スケジュール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10月〜3月　／　労務費PJ・開発・西友の動き</a:t>
            </a:r>
            <a:endParaRPr lang="en-US" sz="1200" dirty="0"/>
          </a:p>
        </p:txBody>
      </p:sp>
      <p:sp>
        <p:nvSpPr>
          <p:cNvPr id="4" name="arrow-pj"/>
          <p:cNvSpPr/>
          <p:nvPr/>
        </p:nvSpPr>
        <p:spPr>
          <a:xfrm>
            <a:off x="1417320" y="1572768"/>
            <a:ext cx="4114800" cy="4315968"/>
          </a:xfrm>
          <a:prstGeom prst="downArrow">
            <a:avLst/>
          </a:prstGeom>
          <a:solidFill>
            <a:schemeClr val="accent4">
              <a:alpha val="65000"/>
            </a:schemeClr>
          </a:solidFill>
          <a:ln/>
        </p:spPr>
      </p:sp>
      <p:sp>
        <p:nvSpPr>
          <p:cNvPr id="5" name="arrow-dev"/>
          <p:cNvSpPr/>
          <p:nvPr/>
        </p:nvSpPr>
        <p:spPr>
          <a:xfrm>
            <a:off x="5760720" y="1572768"/>
            <a:ext cx="2834640" cy="4315968"/>
          </a:xfrm>
          <a:prstGeom prst="downArrow">
            <a:avLst/>
          </a:prstGeom>
          <a:solidFill>
            <a:schemeClr val="accent4">
              <a:alpha val="65000"/>
            </a:schemeClr>
          </a:solidFill>
          <a:ln/>
        </p:spPr>
      </p:sp>
      <p:sp>
        <p:nvSpPr>
          <p:cNvPr id="6" name="arrow-sy"/>
          <p:cNvSpPr/>
          <p:nvPr/>
        </p:nvSpPr>
        <p:spPr>
          <a:xfrm>
            <a:off x="8823960" y="1572768"/>
            <a:ext cx="2862072" cy="4315968"/>
          </a:xfrm>
          <a:prstGeom prst="downArrow">
            <a:avLst/>
          </a:prstGeom>
          <a:solidFill>
            <a:schemeClr val="accent4">
              <a:alpha val="65000"/>
            </a:schemeClr>
          </a:solidFill>
          <a:ln/>
        </p:spPr>
      </p:sp>
      <p:sp>
        <p:nvSpPr>
          <p:cNvPr id="7" name="month-0"/>
          <p:cNvSpPr txBox="1"/>
          <p:nvPr/>
        </p:nvSpPr>
        <p:spPr>
          <a:xfrm>
            <a:off x="457200" y="172821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10月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88336"/>
            <a:ext cx="11274552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dash"/>
          </a:ln>
        </p:spPr>
      </p:sp>
      <p:sp>
        <p:nvSpPr>
          <p:cNvPr id="9" name="month-1"/>
          <p:cNvSpPr txBox="1"/>
          <p:nvPr/>
        </p:nvSpPr>
        <p:spPr>
          <a:xfrm>
            <a:off x="457200" y="268833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11月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48456"/>
            <a:ext cx="11274552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dash"/>
          </a:ln>
        </p:spPr>
      </p:sp>
      <p:sp>
        <p:nvSpPr>
          <p:cNvPr id="11" name="month-2"/>
          <p:cNvSpPr txBox="1"/>
          <p:nvPr/>
        </p:nvSpPr>
        <p:spPr>
          <a:xfrm>
            <a:off x="457200" y="36484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12月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151376"/>
            <a:ext cx="11274552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dash"/>
          </a:ln>
        </p:spPr>
      </p:sp>
      <p:sp>
        <p:nvSpPr>
          <p:cNvPr id="13" name="month-3"/>
          <p:cNvSpPr txBox="1"/>
          <p:nvPr/>
        </p:nvSpPr>
        <p:spPr>
          <a:xfrm>
            <a:off x="457200" y="415137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54296"/>
            <a:ext cx="11274552" cy="0"/>
          </a:xfrm>
          <a:prstGeom prst="line">
            <a:avLst/>
          </a:prstGeom>
          <a:noFill/>
          <a:ln w="9525">
            <a:solidFill>
              <a:srgbClr val="C9D3DC"/>
            </a:solidFill>
            <a:prstDash val="dash"/>
          </a:ln>
        </p:spPr>
      </p:sp>
      <p:sp>
        <p:nvSpPr>
          <p:cNvPr id="15" name="month-4"/>
          <p:cNvSpPr txBox="1"/>
          <p:nvPr/>
        </p:nvSpPr>
        <p:spPr>
          <a:xfrm>
            <a:off x="457200" y="465429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2月〜</a:t>
            </a:r>
            <a:endParaRPr lang="en-US" sz="1400" dirty="0"/>
          </a:p>
        </p:txBody>
      </p:sp>
      <p:sp>
        <p:nvSpPr>
          <p:cNvPr id="16" name="head-pj"/>
          <p:cNvSpPr/>
          <p:nvPr/>
        </p:nvSpPr>
        <p:spPr>
          <a:xfrm>
            <a:off x="1371600" y="1234440"/>
            <a:ext cx="4206240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12344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労務費PJメンバー</a:t>
            </a:r>
            <a:endParaRPr lang="en-US" sz="1500" dirty="0"/>
          </a:p>
        </p:txBody>
      </p:sp>
      <p:sp>
        <p:nvSpPr>
          <p:cNvPr id="18" name="head-dev"/>
          <p:cNvSpPr/>
          <p:nvPr/>
        </p:nvSpPr>
        <p:spPr>
          <a:xfrm>
            <a:off x="5715000" y="1234440"/>
            <a:ext cx="292608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0" y="1234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開発</a:t>
            </a:r>
            <a:endParaRPr lang="en-US" sz="1500" dirty="0"/>
          </a:p>
        </p:txBody>
      </p:sp>
      <p:sp>
        <p:nvSpPr>
          <p:cNvPr id="20" name="head-sy"/>
          <p:cNvSpPr/>
          <p:nvPr/>
        </p:nvSpPr>
        <p:spPr>
          <a:xfrm>
            <a:off x="8778240" y="1234440"/>
            <a:ext cx="2953512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778240" y="123444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西友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508760" y="1792224"/>
            <a:ext cx="393192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38100" dist="12700" dir="5400000">
              <a:srgbClr val="9AA8B5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563624" y="1847088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563624" y="1847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10/21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551176" y="179222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西友メンバーを入れて計測の前提合わせ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08760" y="2203704"/>
            <a:ext cx="3931920" cy="4572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38100" dist="12700" dir="5400000">
              <a:srgbClr val="9AA8B5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563624" y="2304288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563624" y="2304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10/21〜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551176" y="2203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西友版の手配内容に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全商品の中間品を置き換え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08760" y="2752344"/>
            <a:ext cx="393192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38100" dist="12700" dir="5400000">
              <a:srgbClr val="9AA8B5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563624" y="2807208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563624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11/20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551176" y="27523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置き換え完了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08760" y="3191256"/>
            <a:ext cx="393192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8100" dist="12700" dir="5400000">
              <a:srgbClr val="9AA8B5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563624" y="3246120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563624" y="3246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11/23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551176" y="3191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説明・計測開始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508760" y="3712464"/>
            <a:ext cx="393192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38100" dist="12700" dir="5400000">
              <a:srgbClr val="9AA8B5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563624" y="3767328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563624" y="3767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12/15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551176" y="37124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計測集計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508760" y="4215384"/>
            <a:ext cx="3931920" cy="36576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8100" dist="12700" dir="5400000">
              <a:srgbClr val="9AA8B5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563624" y="4270248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563624" y="4270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1/31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2551176" y="4215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全商品の労務費算出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852160" y="2752344"/>
            <a:ext cx="2651760" cy="804672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38100" dist="12700" dir="5400000">
              <a:srgbClr val="9AA8B5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907024" y="3026664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907024" y="3026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11月中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894576" y="275234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手順書・規格書の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フォーム変更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852160" y="4718304"/>
            <a:ext cx="265176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38100" dist="12700" dir="5400000">
              <a:srgbClr val="9AA8B5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907024" y="4956048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907024" y="4956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2月〜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894576" y="4718304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新商品：西友版の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手配内容で規格書作成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915400" y="4718304"/>
            <a:ext cx="2679192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38100" dist="12700" dir="5400000">
              <a:srgbClr val="9AA8B5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970264" y="4956048"/>
            <a:ext cx="914400" cy="256032"/>
          </a:xfrm>
          <a:prstGeom prst="roundRect">
            <a:avLst>
              <a:gd name="adj" fmla="val 21429"/>
            </a:avLst>
          </a:prstGeom>
          <a:solidFill>
            <a:schemeClr val="accent3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970264" y="4956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2月〜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9957816" y="4718304"/>
            <a:ext cx="1581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西友に出す商品の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値入交渉・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卸値の一覧表作成</a:t>
            </a:r>
            <a:endParaRPr lang="en-US" sz="1200" dirty="0"/>
          </a:p>
        </p:txBody>
      </p:sp>
      <p:sp>
        <p:nvSpPr>
          <p:cNvPr id="58" name="band-0"/>
          <p:cNvSpPr/>
          <p:nvPr/>
        </p:nvSpPr>
        <p:spPr>
          <a:xfrm>
            <a:off x="457200" y="5980176"/>
            <a:ext cx="6949440" cy="777240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/>
        </p:spPr>
      </p:sp>
      <p:sp>
        <p:nvSpPr>
          <p:cNvPr id="59" name="Shape 57"/>
          <p:cNvSpPr/>
          <p:nvPr/>
        </p:nvSpPr>
        <p:spPr>
          <a:xfrm>
            <a:off x="621792" y="6094476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21792" y="60944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2月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1325880" y="598017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大方針が出る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49期予算を西友版の労務費・経費の原価構成で編成</a:t>
            </a:r>
            <a:endParaRPr lang="en-US" sz="1600" dirty="0"/>
          </a:p>
        </p:txBody>
      </p:sp>
      <p:sp>
        <p:nvSpPr>
          <p:cNvPr id="62" name="band-1"/>
          <p:cNvSpPr/>
          <p:nvPr/>
        </p:nvSpPr>
        <p:spPr>
          <a:xfrm>
            <a:off x="7589520" y="5980176"/>
            <a:ext cx="4142232" cy="777240"/>
          </a:xfrm>
          <a:prstGeom prst="roundRect">
            <a:avLst>
              <a:gd name="adj" fmla="val 11765"/>
            </a:avLst>
          </a:prstGeom>
          <a:solidFill>
            <a:schemeClr val="accent6"/>
          </a:solidFill>
          <a:ln/>
        </p:spPr>
      </p:sp>
      <p:sp>
        <p:nvSpPr>
          <p:cNvPr id="63" name="Shape 61"/>
          <p:cNvSpPr/>
          <p:nvPr/>
        </p:nvSpPr>
        <p:spPr>
          <a:xfrm>
            <a:off x="7754112" y="6094476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7754112" y="60944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3月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8458200" y="5980176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店舗・製造の荒利の検討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406640" y="6259068"/>
            <a:ext cx="182880" cy="219456"/>
          </a:xfrm>
          <a:prstGeom prst="rightArrow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Labor Cost Schedule">
  <a:themeElements>
    <a:clrScheme name="Labor Cost Schedule">
      <a:dk1>
        <a:srgbClr val="1F2933"/>
      </a:dk1>
      <a:lt1>
        <a:srgbClr val="FFFFFF"/>
      </a:lt1>
      <a:dk2>
        <a:srgbClr val="1F4E79"/>
      </a:dk2>
      <a:lt2>
        <a:srgbClr val="EEF3F7"/>
      </a:lt2>
      <a:accent1>
        <a:srgbClr val="1F4E79"/>
      </a:accent1>
      <a:accent2>
        <a:srgbClr val="2E7D5B"/>
      </a:accent2>
      <a:accent3>
        <a:srgbClr val="C0562B"/>
      </a:accent3>
      <a:accent4>
        <a:srgbClr val="DCE6EE"/>
      </a:accent4>
      <a:accent5>
        <a:srgbClr val="B8860B"/>
      </a:accent5>
      <a:accent6>
        <a:srgbClr val="7A8794"/>
      </a:accent6>
      <a:hlink>
        <a:srgbClr val="1F4E79"/>
      </a:hlink>
      <a:folHlink>
        <a:srgbClr val="6D2E46"/>
      </a:folHlink>
    </a:clrScheme>
    <a:fontScheme name="Labor Cost Schedul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労務費算出プロジェクト スケジュール</dc:title>
  <dc:subject>PptxGenJS Presentation</dc:subject>
  <dc:creator>PptxGenJS</dc:creator>
  <cp:lastModifiedBy>PptxGenJS</cp:lastModifiedBy>
  <cp:revision>1</cp:revision>
  <dcterms:created xsi:type="dcterms:W3CDTF">2026-10-29T23:50:41Z</dcterms:created>
  <dcterms:modified xsi:type="dcterms:W3CDTF">2026-10-29T23:50:41Z</dcterms:modified>
</cp:coreProperties>
</file>